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Listings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19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Home&amp;Kitchen</c:v>
                  </c:pt>
                  <c:pt idx="1">
                    <c:v>OfficeProducts</c:v>
                  </c:pt>
                  <c:pt idx="2">
                    <c:v>Toys&amp;Games</c:v>
                  </c:pt>
                  <c:pt idx="3">
                    <c:v>MusicalInstruments</c:v>
                  </c:pt>
                  <c:pt idx="4">
                    <c:v>Car&amp;Motorbike</c:v>
                  </c:pt>
                  <c:pt idx="5">
                    <c:v>Health</c:v>
                  </c:pt>
                  <c:pt idx="6">
                    <c:v>Electronics</c:v>
                  </c:pt>
                  <c:pt idx="7">
                    <c:v>Computers&amp;Accessories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210</c:v>
                </c:pt>
                <c:pt idx="1">
                  <c:v>98</c:v>
                </c:pt>
                <c:pt idx="2">
                  <c:v>62</c:v>
                </c:pt>
                <c:pt idx="3">
                  <c:v>34</c:v>
                </c:pt>
                <c:pt idx="4">
                  <c:v>42</c:v>
                </c:pt>
                <c:pt idx="5">
                  <c:v>85</c:v>
                </c:pt>
                <c:pt idx="6">
                  <c:v>305</c:v>
                </c:pt>
                <c:pt idx="7">
                  <c:v>626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319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19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&lt;3.0</c:v>
                  </c:pt>
                  <c:pt idx="1">
                    <c:v>3.0–3.4</c:v>
                  </c:pt>
                  <c:pt idx="2">
                    <c:v>3.5–3.9</c:v>
                  </c:pt>
                  <c:pt idx="3">
                    <c:v>4.0–4.4</c:v>
                  </c:pt>
                  <c:pt idx="4">
                    <c:v>4.5–5.0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72</c:v>
                </c:pt>
                <c:pt idx="2">
                  <c:v>198</c:v>
                </c:pt>
                <c:pt idx="3">
                  <c:v>902</c:v>
                </c:pt>
                <c:pt idx="4">
                  <c:v>272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319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19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0–19%</c:v>
                  </c:pt>
                  <c:pt idx="1">
                    <c:v>20–39%</c:v>
                  </c:pt>
                  <c:pt idx="2">
                    <c:v>40–49%</c:v>
                  </c:pt>
                  <c:pt idx="3">
                    <c:v>50–59%</c:v>
                  </c:pt>
                  <c:pt idx="4">
                    <c:v>60–79%</c:v>
                  </c:pt>
                  <c:pt idx="5">
                    <c:v>80–94%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</c:v>
                </c:pt>
                <c:pt idx="1">
                  <c:v>184</c:v>
                </c:pt>
                <c:pt idx="2">
                  <c:v>312</c:v>
                </c:pt>
                <c:pt idx="3">
                  <c:v>378</c:v>
                </c:pt>
                <c:pt idx="4">
                  <c:v>392</c:v>
                </c:pt>
                <c:pt idx="5">
                  <c:v>148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319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FF9900"/>
            </a:solidFill>
            <a:ln w="25400" cap="flat">
              <a:solidFill>
                <a:srgbClr val="FF99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9900"/>
              </a:solidFill>
              <a:ln w="9525" cap="flat">
                <a:solidFill>
                  <a:srgbClr val="FF9900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399</c:v>
                </c:pt>
                <c:pt idx="1">
                  <c:v>999</c:v>
                </c:pt>
                <c:pt idx="2">
                  <c:v>1099</c:v>
                </c:pt>
                <c:pt idx="3">
                  <c:v>1899</c:v>
                </c:pt>
                <c:pt idx="4">
                  <c:v>699</c:v>
                </c:pt>
                <c:pt idx="5">
                  <c:v>1499</c:v>
                </c:pt>
                <c:pt idx="6">
                  <c:v>4999</c:v>
                </c:pt>
                <c:pt idx="7">
                  <c:v>2999</c:v>
                </c:pt>
                <c:pt idx="8">
                  <c:v>7999</c:v>
                </c:pt>
                <c:pt idx="9">
                  <c:v>12999</c:v>
                </c:pt>
                <c:pt idx="10">
                  <c:v>24999</c:v>
                </c:pt>
                <c:pt idx="11">
                  <c:v>599</c:v>
                </c:pt>
                <c:pt idx="12">
                  <c:v>349</c:v>
                </c:pt>
                <c:pt idx="13">
                  <c:v>1299</c:v>
                </c:pt>
                <c:pt idx="14">
                  <c:v>2499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0">
                  <c:v>249</c:v>
                </c:pt>
                <c:pt idx="1">
                  <c:v>699</c:v>
                </c:pt>
                <c:pt idx="2">
                  <c:v>549</c:v>
                </c:pt>
                <c:pt idx="3">
                  <c:v>199</c:v>
                </c:pt>
                <c:pt idx="4">
                  <c:v>329</c:v>
                </c:pt>
                <c:pt idx="5">
                  <c:v>799</c:v>
                </c:pt>
                <c:pt idx="6">
                  <c:v>2499</c:v>
                </c:pt>
                <c:pt idx="7">
                  <c:v>1499</c:v>
                </c:pt>
                <c:pt idx="8">
                  <c:v>3999</c:v>
                </c:pt>
                <c:pt idx="9">
                  <c:v>7999</c:v>
                </c:pt>
                <c:pt idx="10">
                  <c:v>14999</c:v>
                </c:pt>
                <c:pt idx="11">
                  <c:v>299</c:v>
                </c:pt>
                <c:pt idx="12">
                  <c:v>199</c:v>
                </c:pt>
                <c:pt idx="13">
                  <c:v>699</c:v>
                </c:pt>
                <c:pt idx="14">
                  <c:v>1299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Actual Price (₹)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Discounted Price (₹)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 Count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boAt Deuce USB 300</c:v>
                  </c:pt>
                  <c:pt idx="1">
                    <c:v>Ambrane 60W Cable</c:v>
                  </c:pt>
                  <c:pt idx="2">
                    <c:v>Portronics Konnect L</c:v>
                  </c:pt>
                  <c:pt idx="3">
                    <c:v>Anker USB-C Hub</c:v>
                  </c:pt>
                  <c:pt idx="4">
                    <c:v>Wayona Braided Cable</c:v>
                  </c:pt>
                  <c:pt idx="5">
                    <c:v>PTron Solero TB301</c:v>
                  </c:pt>
                  <c:pt idx="6">
                    <c:v>Mi USB-C Cable</c:v>
                  </c:pt>
                  <c:pt idx="7">
                    <c:v>UGREEN USB Cable</c:v>
                  </c:pt>
                  <c:pt idx="8">
                    <c:v>boAt Rugged v3</c:v>
                  </c:pt>
                  <c:pt idx="9">
                    <c:v>Lapster USB Hub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94363</c:v>
                </c:pt>
                <c:pt idx="1">
                  <c:v>66000</c:v>
                </c:pt>
                <c:pt idx="2">
                  <c:v>43994</c:v>
                </c:pt>
                <c:pt idx="3">
                  <c:v>38000</c:v>
                </c:pt>
                <c:pt idx="4">
                  <c:v>24269</c:v>
                </c:pt>
                <c:pt idx="5">
                  <c:v>21000</c:v>
                </c:pt>
                <c:pt idx="6">
                  <c:v>18000</c:v>
                </c:pt>
                <c:pt idx="7">
                  <c:v>17000</c:v>
                </c:pt>
                <c:pt idx="8">
                  <c:v>16905</c:v>
                </c:pt>
                <c:pt idx="9">
                  <c:v>14500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19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Car&amp;Motorbike</c:v>
                  </c:pt>
                  <c:pt idx="1">
                    <c:v>OfficeProducts</c:v>
                  </c:pt>
                  <c:pt idx="2">
                    <c:v>Toys&amp;Games</c:v>
                  </c:pt>
                  <c:pt idx="3">
                    <c:v>Home&amp;Kitchen</c:v>
                  </c:pt>
                  <c:pt idx="4">
                    <c:v>MusicalInstruments</c:v>
                  </c:pt>
                  <c:pt idx="5">
                    <c:v>Health</c:v>
                  </c:pt>
                  <c:pt idx="6">
                    <c:v>Computers&amp;Accessories</c:v>
                  </c:pt>
                  <c:pt idx="7">
                    <c:v>Electronics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3.88</c:v>
                </c:pt>
                <c:pt idx="1">
                  <c:v>3.93</c:v>
                </c:pt>
                <c:pt idx="2">
                  <c:v>4.01</c:v>
                </c:pt>
                <c:pt idx="3">
                  <c:v>4.03</c:v>
                </c:pt>
                <c:pt idx="4">
                  <c:v>4.07</c:v>
                </c:pt>
                <c:pt idx="5">
                  <c:v>4.1</c:v>
                </c:pt>
                <c:pt idx="6">
                  <c:v>4.14</c:v>
                </c:pt>
                <c:pt idx="7">
                  <c:v>4.18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319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3.5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9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8321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6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411480" y="3566160"/>
            <a:ext cx="832104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65760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|  1,462 Products  |  10 Charts  |  April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420624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1E2B3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2062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420624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1E2B3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2062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420624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1E2B3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42062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420624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1E2B38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42062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1965960" cy="1463040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196596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1,465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960120"/>
            <a:ext cx="1965960" cy="1463040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960120"/>
            <a:ext cx="196596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09728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1,462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14600" y="1828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Records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1965960" cy="1463040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960120"/>
            <a:ext cx="196596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09728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63440" y="1828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12280" y="960120"/>
            <a:ext cx="1965960" cy="1463040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2280" y="960120"/>
            <a:ext cx="196596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09728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812280" y="1828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12648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9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92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1921"/>
                          </a:solidFill>
                        </a:rPr>
                        <a:t>product_id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Unique product identifier (ASIN)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1921"/>
                          </a:solidFill>
                        </a:rPr>
                        <a:t>product_name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Full product title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1921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Hierarchical category path (pipe-delimited)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1921"/>
                          </a:solidFill>
                        </a:rPr>
                        <a:t>discounted_price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Sale price in INR — converted from ₹ string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1921"/>
                          </a:solidFill>
                        </a:rPr>
                        <a:t>actual_price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List price in INR — converted from ₹ string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1921"/>
                          </a:solidFill>
                        </a:rPr>
                        <a:t>discount_percentage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Discount offered — converted from % string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1921"/>
                          </a:solidFill>
                        </a:rPr>
                        <a:t>rating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Customer rating (2.0–5.0) — cleaned of invalid entries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1921"/>
                          </a:solidFill>
                        </a:rPr>
                        <a:t>rating_count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Number of ratings received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1921"/>
                          </a:solidFill>
                        </a:rPr>
                        <a:t>user_id / user_name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Comma-separated reviewer identifiers &amp; names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1921"/>
                          </a:solidFill>
                        </a:rPr>
                        <a:t>review_title / content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Customer review headline and full text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23360" cy="1600200"/>
          </a:xfrm>
          <a:prstGeom prst="rect">
            <a:avLst/>
          </a:prstGeom>
          <a:solidFill>
            <a:srgbClr val="F7F9FC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502920" cy="1600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10972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Removal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46304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missing values in rating_count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via df.dropna() → 1,463 rows retained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788920"/>
            <a:ext cx="4023360" cy="1600200"/>
          </a:xfrm>
          <a:prstGeom prst="rect">
            <a:avLst/>
          </a:prstGeom>
          <a:solidFill>
            <a:srgbClr val="F7F9FC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788920"/>
            <a:ext cx="502920" cy="1600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788920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29260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Rating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29184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1279 had rating = '|' (Eureka Forbes car Vac)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pd.to_numeric(errors='coerce') → NaN → dropped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023360" cy="1600200"/>
          </a:xfrm>
          <a:prstGeom prst="rect">
            <a:avLst/>
          </a:prstGeom>
          <a:solidFill>
            <a:srgbClr val="F7F9FC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960120"/>
            <a:ext cx="502920" cy="1600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960120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57800" y="10972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146304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df.duplicated().sum() =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rows found in dataset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788920"/>
            <a:ext cx="4023360" cy="1600200"/>
          </a:xfrm>
          <a:prstGeom prst="rect">
            <a:avLst/>
          </a:prstGeom>
          <a:solidFill>
            <a:srgbClr val="F7F9FC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788920"/>
            <a:ext cx="502920" cy="1600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88920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257800" y="29260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329184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and commas stripped from price columns → int64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stripped from discount column → int64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→ float64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clean dataset: 1,462 rows  ×  16 columns  |  No nulls  |  No duplicates  |  All numeric columns correctly typed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31920" cy="3566160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main_category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93192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0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df['main_category']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df['category'].str.split('|').str[0]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top-level category from pipe-delimited path for grouping and visualisation.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"Computers&amp;Accessories|Accessories|..." → "Computers&amp;Accessories"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114800" cy="3566160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9601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user_count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1148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6002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df['user_count']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df['user_id'].str.split(',').str.len()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251460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reviewers per product from comma-separated user_id field.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proxy for review depth and product engagement — more reviewers = more visible product.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new columns retained in the exported amazon.csv for downstream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by Category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product listings per top-level category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8412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&amp; Accessories accounts for ~43% of all listings — significantly ahead of all other categories.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Discount Insights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Distribution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41148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66344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Percentage Distribution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4663440" y="1097280"/>
          <a:ext cx="41148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4297680"/>
            <a:ext cx="4114800" cy="621792"/>
          </a:xfrm>
          <a:prstGeom prst="rect">
            <a:avLst/>
          </a:prstGeom>
          <a:solidFill>
            <a:srgbClr val="EEF7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4297680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cluster at 4.0–4.4 (62% of products). Mode = 4.1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663440" y="4297680"/>
            <a:ext cx="4114800" cy="621792"/>
          </a:xfrm>
          <a:prstGeom prst="rect">
            <a:avLst/>
          </a:prstGeom>
          <a:solidFill>
            <a:srgbClr val="FFF8EE"/>
          </a:solidFill>
          <a:ln w="6350">
            <a:solidFill>
              <a:srgbClr val="FF99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663440" y="4297680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and 60–79% discount bands are most common — strong anchoring strategy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price vs discounted price scatter — most products cluster under ₹5,000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6692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005840"/>
            <a:ext cx="2468880" cy="1097280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309360" y="1005840"/>
            <a:ext cx="246888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09360" y="10972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₹999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309360" y="1645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Price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products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309360" y="2286000"/>
            <a:ext cx="2468880" cy="1097280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2286000"/>
            <a:ext cx="246888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23774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309360" y="2926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products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309360" y="3566160"/>
            <a:ext cx="2468880" cy="1097280"/>
          </a:xfrm>
          <a:prstGeom prst="rect">
            <a:avLst/>
          </a:prstGeom>
          <a:solidFill>
            <a:srgbClr val="131921"/>
          </a:solidFill>
          <a:ln w="12700">
            <a:solidFill>
              <a:srgbClr val="13192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09360" y="3566160"/>
            <a:ext cx="246888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36576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309360" y="4206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Discount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Sounce Cable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correlation between actual and discounted price. No products sold above ₹25,000 in this dataset.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&amp; Correlations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Most Reviewed Products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777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(Numeric Cols)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143000"/>
          <a:ext cx="292608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640080"/>
                <a:gridCol w="640080"/>
                <a:gridCol w="548640"/>
                <a:gridCol w="502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9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disc_price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9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act_price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9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disc_%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9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rating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92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disc_price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-0.38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act_price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-0.19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disc_%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-0.38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-0.19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-0.04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rating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-0.04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852160" y="31089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</a:t>
            </a:r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disc_price ↔ act_price = 0.87 (strong +ve)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disc_% ↔ disc_price = -0.38 (weak -ve)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has near-zero correlation with pricing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by Category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categories maintain solid ratings — no major quality gap across segments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84124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and Computers &amp; Accessories — the most-listed categories — also enjoy the highest average ratings.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269748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Category Skew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&amp; Accessories accounts for ~43% of all listings. The marketplace is heavily skewed toward one segment.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91440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914400"/>
            <a:ext cx="269748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0241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Rating Quality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13716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of products rate 4.0–4.4. Mode = 4.1. Only ~1.2% of products rated below 3.0.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914400"/>
            <a:ext cx="269748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0241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Pricing Strategy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13716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₹999 is the most common actual price. 50% discount is the anchor point for most sellers.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80360"/>
            <a:ext cx="269748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9008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Discount ≠ Rating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33756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discount and rating ≈ −0.04 (near zero). Deep discounts don't improve satisfaction.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46120" y="288036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2880360"/>
            <a:ext cx="269748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99008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Price Correlation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37560" y="333756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and discounted price are strongly correlated (r = 0.87). Higher-priced items stay proportionally higher after discount.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288036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2880360"/>
            <a:ext cx="269748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99008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🚢 Review Leaders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333756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 branded cables dominate review counts. Top product has 94,363 ratings — a sign of dominant market position.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9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9144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listings into underrepresented categories like Health, Sports &amp; Outdoors, and Books to reduce over-reliance on Computers &amp; Accessories.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dynamic pricing to test discounts above 50% on slow-moving items — but track rating impact carefully since no strong correlation exists.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47472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34747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boAt's listing strategy (images, bullet points, review solicitation) as a benchmark for improving engagement across other brands.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0" y="91440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394960" y="9144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upstream data validation to prevent non-numeric entries in the rating column (e.g., '|') before they enter the pipeline.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219456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94960" y="21945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₹999 price point strategically — it's the most common actual price and likely the consumer sweet spot for this category mix.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347472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394960" y="34747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review quality over discount depth. Rating improvement comes from product quality, not price cuts.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9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457200" y="2468880"/>
            <a:ext cx="36576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6334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India Product EDA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pandas • seaborn • matplotlib  |  April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1,462 clean records after data cleaning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041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10 visualisations generated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3342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Computers &amp; Accessories leads all categories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6268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Rating mode: 4.1  |  Most common discount: 50%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India Product Analysis</dc:title>
  <dc:subject>PptxGenJS Presentation</dc:subject>
  <dc:creator>Data Analytics</dc:creator>
  <cp:lastModifiedBy>Data Analytics</cp:lastModifiedBy>
  <cp:revision>1</cp:revision>
  <dcterms:created xsi:type="dcterms:W3CDTF">2026-04-18T11:34:45Z</dcterms:created>
  <dcterms:modified xsi:type="dcterms:W3CDTF">2026-04-18T11:34:45Z</dcterms:modified>
</cp:coreProperties>
</file>